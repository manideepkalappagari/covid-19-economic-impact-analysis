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Overpass Light"/>
      <p:regular r:id="rId201314"/>
    </p:embeddedFont>
    <p:embeddedFont>
      <p:font typeface="Overpass"/>
      <p:regular r:id="rId201315"/>
    </p:embeddedFont>
    <p:embeddedFont>
      <p:font typeface="Overpass Medium"/>
      <p:regular r:id="rId201316"/>
    </p:embeddedFont>
    <p:embeddedFont>
      <p:font typeface="Overpass Bold"/>
      <p:regular r:id="rId201317"/>
    </p:embeddedFont>
    <p:embeddedFont>
      <p:font typeface="Overpass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dataset, one question: how deep did it go, and how far back have we come?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 dataset. One flag already: support is a constant, not a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control group in this dataset. Everything contracted.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Spread got smaller in rupees, bigger in proportion. That gap is the story of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6.46 to 13.35. The range matters as much as the mean — 5.25 at best, 21.66 at worst.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Frequency, not depth — 40% is the cap, and Tripura reaches it more often than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shock was broad, not re-ordering. Who was ahead stayed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sector split: movement-dependent sectors took the damage; extraction and essentials absorbed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levers moved. The fourth was a constant — the same rupee figure everywhere, regardless of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Halfway back. Not recovered — recovering.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6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4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45580"/>
            <a:ext cx="10972526" cy="3730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600" spc="96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INDIA'S GDP</a:t>
            </a:r>
            <a:endParaRPr lang="en-US" sz="96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9600" spc="96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UNDER LOCKDOWN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09585" y="5092005"/>
            <a:ext cx="1097252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6EFE6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Data readout · 28 states · 10 sectors · 2019–2022</a:t>
            </a:r>
            <a:endParaRPr lang="en-US" sz="1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F6EFE6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Analysis of the "India GDP Loss During COVID-19" dataset, Kaggle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17" kern="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2,500 RECORDS, ZERO MISSING VALUES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345803"/>
            <a:ext cx="609585" cy="38100"/>
          </a:xfrm>
          <a:prstGeom prst="roundRect">
            <a:avLst>
              <a:gd name="adj" fmla="val 49999"/>
            </a:avLst>
          </a:prstGeom>
          <a:solidFill>
            <a:srgbClr val="FF4D1F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631553"/>
            <a:ext cx="3555911" cy="4464447"/>
          </a:xfrm>
          <a:prstGeom prst="rect">
            <a:avLst/>
          </a:prstGeom>
          <a:noFill/>
          <a:ln w="6350">
            <a:solidFill>
              <a:srgbClr val="8A83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9928" y="3060105"/>
            <a:ext cx="329556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0"/>
              </a:rPr>
              <a:t>Coverage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9928" y="3359150"/>
            <a:ext cx="303522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28 × 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9928" y="4041378"/>
            <a:ext cx="303522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States and sectors, 2019–2022.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17892" y="1631553"/>
            <a:ext cx="3555911" cy="4464447"/>
          </a:xfrm>
          <a:prstGeom prst="rect">
            <a:avLst/>
          </a:prstGeom>
          <a:noFill/>
          <a:ln w="6350">
            <a:solidFill>
              <a:srgbClr val="8A83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235" y="2513905"/>
            <a:ext cx="329556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0"/>
              </a:rPr>
              <a:t>Fields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8235" y="2812951"/>
            <a:ext cx="3035224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GDP, jobs, vaccines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8235" y="3961507"/>
            <a:ext cx="3035224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Before/during GDP, unemployment, vaccination, lockdown severity, migration, health index, recovery.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26199" y="1631553"/>
            <a:ext cx="3555911" cy="4464447"/>
          </a:xfrm>
          <a:prstGeom prst="rect">
            <a:avLst/>
          </a:prstGeom>
          <a:noFill/>
          <a:ln w="6350">
            <a:solidFill>
              <a:srgbClr val="8A83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6543" y="2903538"/>
            <a:ext cx="329556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24" kern="100" dirty="0">
                <a:solidFill>
                  <a:srgbClr val="00000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0"/>
              </a:rPr>
              <a:t>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86543" y="3202583"/>
            <a:ext cx="3035224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dirty="0">
                <a:solidFill>
                  <a:srgbClr val="CC2A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No nulls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286543" y="3884811"/>
            <a:ext cx="303522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No duplicates. Government support flat across every record.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786099" y="6443663"/>
            <a:ext cx="40559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17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NO STATE, NO SECTOR WAS SPARED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2856508"/>
            <a:ext cx="3428914" cy="93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dirty="0">
                <a:solidFill>
                  <a:srgbClr val="FFD60A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4063405"/>
            <a:ext cx="36575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B9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Records with no GDP loss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95688" y="2856508"/>
            <a:ext cx="3200320" cy="93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dirty="0">
                <a:solidFill>
                  <a:srgbClr val="FFD60A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28 / 28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495688" y="4063405"/>
            <a:ext cx="342891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B9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States that contracted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53196" y="2856508"/>
            <a:ext cx="3428914" cy="93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dirty="0">
                <a:solidFill>
                  <a:srgbClr val="FFD60A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10 / 10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153196" y="4063405"/>
            <a:ext cx="342891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B9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Sectors that contracted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585" y="603508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B9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India GDP Loss During COVID-19, 2,500 state-sector records.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0743" y="1291828"/>
            <a:ext cx="12700" cy="4549577"/>
          </a:xfrm>
          <a:prstGeom prst="rect">
            <a:avLst/>
          </a:prstGeom>
          <a:solidFill>
            <a:srgbClr val="8A837A"/>
          </a:solidFill>
          <a:ln/>
        </p:spPr>
      </p:sp>
      <p:sp>
        <p:nvSpPr>
          <p:cNvPr id="11" name="Shape 9"/>
          <p:cNvSpPr/>
          <p:nvPr/>
        </p:nvSpPr>
        <p:spPr>
          <a:xfrm>
            <a:off x="7918252" y="1291828"/>
            <a:ext cx="12700" cy="4549577"/>
          </a:xfrm>
          <a:prstGeom prst="rect">
            <a:avLst/>
          </a:prstGeom>
          <a:solidFill>
            <a:srgbClr val="8A837A"/>
          </a:solidFill>
          <a:ln/>
        </p:spPr>
      </p:sp>
      <p:sp>
        <p:nvSpPr>
          <p:cNvPr id="12" name="Text 10"/>
          <p:cNvSpPr/>
          <p:nvPr/>
        </p:nvSpPr>
        <p:spPr>
          <a:xfrm>
            <a:off x="11787587" y="6443663"/>
            <a:ext cx="40410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24769"/>
            <a:ext cx="6017169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17" kern="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AVERAGE GDP FELL 22.7%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984772"/>
            <a:ext cx="6017169" cy="32493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319812"/>
            <a:ext cx="662675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Mean ₹50,388.95 → ₹39,027.99. Median ₹51,081 → ₹38,908, a 23.6% decline.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303013" y="129778"/>
            <a:ext cx="609585" cy="38100"/>
          </a:xfrm>
          <a:prstGeom prst="roundRect">
            <a:avLst>
              <a:gd name="adj" fmla="val 49999"/>
            </a:avLst>
          </a:prstGeom>
          <a:solidFill>
            <a:srgbClr val="FF4D1F"/>
          </a:solidFill>
          <a:ln/>
        </p:spPr>
      </p:sp>
      <p:sp>
        <p:nvSpPr>
          <p:cNvPr id="6" name="Text 3"/>
          <p:cNvSpPr/>
          <p:nvPr/>
        </p:nvSpPr>
        <p:spPr>
          <a:xfrm>
            <a:off x="8303013" y="590153"/>
            <a:ext cx="3279098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RICH AND POOR STATES DIVERGED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03013" y="1477169"/>
            <a:ext cx="3279098" cy="5305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Standard deviation narrowed, ₹28,798 → ₹23,136. The coefficient of variation rose anyway.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cv = (std/mean)*100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cv_1  = 57.25% 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cv_2 = 59.34%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A Shopkeeper earning 1000 looses 500 vs Businessman earning 10 lakhs loosing 10,000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550"/>
              </a:spcAft>
              <a:buNone/>
            </a:pP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784710" y="6443663"/>
            <a:ext cx="40698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45903"/>
            <a:ext cx="3083542" cy="1865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dirty="0">
                <a:solidFill>
                  <a:srgbClr val="FFD60A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+107.9%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09585" y="4285456"/>
            <a:ext cx="308354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B9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Increase in unemployment, before COVID to during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69386" y="1026517"/>
            <a:ext cx="6212724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17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UNEMPLOYMENT NEARLY DOUBLED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9386" y="2152848"/>
            <a:ext cx="6212724" cy="31661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69386" y="5404743"/>
            <a:ext cx="6212724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B9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During-COVID rates ranged 5.25%–21.66% across records. Smaller states hit harder; metro-adjacent regions fared better.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784710" y="6443663"/>
            <a:ext cx="40698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59941"/>
            <a:ext cx="6212724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17" kern="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TRIPURA RECORDED THE DEEPEST LOSSES, MOST OFTEN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52601"/>
            <a:ext cx="6212724" cy="33453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98568" y="2061270"/>
            <a:ext cx="609585" cy="38100"/>
          </a:xfrm>
          <a:prstGeom prst="roundRect">
            <a:avLst>
              <a:gd name="adj" fmla="val 49999"/>
            </a:avLst>
          </a:prstGeom>
          <a:solidFill>
            <a:srgbClr val="FF4D1F"/>
          </a:solidFill>
          <a:ln/>
        </p:spPr>
      </p:sp>
      <p:sp>
        <p:nvSpPr>
          <p:cNvPr id="5" name="Text 2"/>
          <p:cNvSpPr/>
          <p:nvPr/>
        </p:nvSpPr>
        <p:spPr>
          <a:xfrm>
            <a:off x="8498568" y="2521645"/>
            <a:ext cx="3083542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108 RECORDS AT THE CEILING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498568" y="3408660"/>
            <a:ext cx="308354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Highest of any state. Madhya Pradesh and Haryana follow closely at 106 each.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98568" y="4423966"/>
            <a:ext cx="308354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Count of records hitting the 40% maximum GDP loss.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788282" y="6443663"/>
            <a:ext cx="40341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22871"/>
            <a:ext cx="6212724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17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BIGGER ECONOMIES SHOW THE WIDEST ABSOLUTE DROP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49202"/>
            <a:ext cx="6212724" cy="2986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5421809"/>
            <a:ext cx="682230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B9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Pre-COVID GDP, highest and lowest states in the dataset.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498568" y="2495550"/>
            <a:ext cx="609585" cy="38100"/>
          </a:xfrm>
          <a:prstGeom prst="roundRect">
            <a:avLst>
              <a:gd name="adj" fmla="val 49999"/>
            </a:avLst>
          </a:prstGeom>
          <a:solidFill>
            <a:srgbClr val="FF4D1F"/>
          </a:solidFill>
          <a:ln/>
        </p:spPr>
      </p:sp>
      <p:sp>
        <p:nvSpPr>
          <p:cNvPr id="6" name="Text 3"/>
          <p:cNvSpPr/>
          <p:nvPr/>
        </p:nvSpPr>
        <p:spPr>
          <a:xfrm>
            <a:off x="8498568" y="2955925"/>
            <a:ext cx="3083542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THE ORDER HELD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498568" y="3477220"/>
            <a:ext cx="308354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Relative ranking between states stayed largely consistent through the crisis.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804156" y="6443663"/>
            <a:ext cx="38753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67916"/>
            <a:ext cx="10972526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17" kern="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MANUFACTURING AND TRANSPORT WERE HIT HARDEST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16473"/>
          <a:ext cx="7010225" cy="914400"/>
        </p:xfrm>
        <a:graphic>
          <a:graphicData uri="http://schemas.openxmlformats.org/drawingml/2006/table">
            <a:tbl>
              <a:tblPr/>
              <a:tblGrid>
                <a:gridCol w="2804050"/>
                <a:gridCol w="1869334"/>
                <a:gridCol w="2336841"/>
              </a:tblGrid>
              <a:tr h="8863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Sector group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Impact scale, 1–10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FD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D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D6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Where records cluster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Manufacturing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Top of scale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Hit hardest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"/>
                      </a:srgbClr>
                    </a:solidFill>
                  </a:tcPr>
                </a:tc>
              </a:tr>
              <a:tr h="573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Transport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Top of scale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Hit hardest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3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Essential sectors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Lower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Held up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6000"/>
                      </a:srgbClr>
                    </a:solidFill>
                  </a:tcPr>
                </a:tc>
              </a:tr>
              <a:tr h="567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Mining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Lowest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verpass" pitchFamily="34" charset="0"/>
                          <a:ea typeface="Overpass" pitchFamily="34" charset="-122"/>
                          <a:cs typeface="Overpass" pitchFamily="34" charset="0"/>
                        </a:rPr>
                        <a:t>Held up best</a:t>
                      </a:r>
                      <a:endParaRPr lang="en-US" sz="1700" dirty="0">
                        <a:latin typeface="Overpass" charset="0"/>
                        <a:ea typeface="Overpass" charset="0"/>
                        <a:cs typeface="Overpass" charset="0"/>
                      </a:endParaRPr>
                    </a:p>
                  </a:txBody>
                  <a:tcPr marL="177796" marR="177796" marT="126997" marB="126997" anchor="ctr">
                    <a:lnL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8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76998" y="3293170"/>
            <a:ext cx="3505112" cy="93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28%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076998" y="4500066"/>
            <a:ext cx="3505112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Of records carry a "High Impact" remark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786198" y="6443663"/>
            <a:ext cx="4054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35994"/>
            <a:ext cx="374898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spc="120" kern="1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2601119"/>
            <a:ext cx="3139401" cy="202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spc="52" kern="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THE RECOVERY</a:t>
            </a:r>
            <a:endParaRPr lang="en-US" sz="52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200" spc="52" kern="10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LEVERS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663264" y="1232098"/>
            <a:ext cx="19050" cy="946051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5" name="Text 3"/>
          <p:cNvSpPr/>
          <p:nvPr/>
        </p:nvSpPr>
        <p:spPr>
          <a:xfrm>
            <a:off x="4885508" y="1333698"/>
            <a:ext cx="710299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VACCINATION RATE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85508" y="1763514"/>
            <a:ext cx="730618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A critical driver of recovery trajectory.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264" y="2330549"/>
            <a:ext cx="19050" cy="946051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8" name="Text 6"/>
          <p:cNvSpPr/>
          <p:nvPr/>
        </p:nvSpPr>
        <p:spPr>
          <a:xfrm>
            <a:off x="4885508" y="2432149"/>
            <a:ext cx="710299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LOCKDOWN SEVERITY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85508" y="2861965"/>
            <a:ext cx="730618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Directly correlated with the size of GDP loss.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63264" y="3429000"/>
            <a:ext cx="19050" cy="946051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11" name="Text 9"/>
          <p:cNvSpPr/>
          <p:nvPr/>
        </p:nvSpPr>
        <p:spPr>
          <a:xfrm>
            <a:off x="4885508" y="3530600"/>
            <a:ext cx="710299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MIGRATION EFFECT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85508" y="3960416"/>
            <a:ext cx="730618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Significant labor-force redistribution after COVID.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63264" y="4527451"/>
            <a:ext cx="19050" cy="946051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14" name="Text 12"/>
          <p:cNvSpPr/>
          <p:nvPr/>
        </p:nvSpPr>
        <p:spPr>
          <a:xfrm>
            <a:off x="4885508" y="4629051"/>
            <a:ext cx="710299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GOVERNMENT SUPPORT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85508" y="5058866"/>
            <a:ext cx="730618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A flat ₹797.03 across every state and sector — uniform, not targeted.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411287"/>
            <a:ext cx="10972526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00" spc="17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RECOVERY SITS AT 55%, SIX YEARS 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2179241"/>
            <a:ext cx="2739659" cy="269875"/>
          </a:xfrm>
          <a:prstGeom prst="roundRect">
            <a:avLst>
              <a:gd name="adj" fmla="val 12000"/>
            </a:avLst>
          </a:prstGeom>
          <a:solidFill>
            <a:srgbClr val="12100E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179241"/>
            <a:ext cx="1506797" cy="269875"/>
          </a:xfrm>
          <a:prstGeom prst="roundRect">
            <a:avLst>
              <a:gd name="adj" fmla="val 12000"/>
            </a:avLst>
          </a:prstGeom>
          <a:solidFill>
            <a:srgbClr val="FF4D1F"/>
          </a:solidFill>
          <a:ln/>
        </p:spPr>
      </p:sp>
      <p:sp>
        <p:nvSpPr>
          <p:cNvPr id="5" name="Text 3"/>
          <p:cNvSpPr/>
          <p:nvPr/>
        </p:nvSpPr>
        <p:spPr>
          <a:xfrm>
            <a:off x="3511165" y="2179241"/>
            <a:ext cx="575950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11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55%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2718991"/>
            <a:ext cx="34775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9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RECOVERY PROGRESS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122712"/>
            <a:ext cx="347753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55.10% across records.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6983" y="2179241"/>
            <a:ext cx="2752061" cy="269875"/>
          </a:xfrm>
          <a:prstGeom prst="roundRect">
            <a:avLst>
              <a:gd name="adj" fmla="val 12000"/>
            </a:avLst>
          </a:prstGeom>
          <a:solidFill>
            <a:srgbClr val="12100E"/>
          </a:solidFill>
          <a:ln/>
        </p:spPr>
      </p:sp>
      <p:sp>
        <p:nvSpPr>
          <p:cNvPr id="9" name="Shape 7"/>
          <p:cNvSpPr/>
          <p:nvPr/>
        </p:nvSpPr>
        <p:spPr>
          <a:xfrm>
            <a:off x="4356983" y="2179241"/>
            <a:ext cx="1706222" cy="269875"/>
          </a:xfrm>
          <a:prstGeom prst="roundRect">
            <a:avLst>
              <a:gd name="adj" fmla="val 12000"/>
            </a:avLst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7270965" y="2179241"/>
            <a:ext cx="56364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11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62%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356983" y="2718991"/>
            <a:ext cx="347762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9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HEALTH INDEX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56983" y="3122712"/>
            <a:ext cx="3477629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61.95.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04481" y="2179241"/>
            <a:ext cx="2745215" cy="269875"/>
          </a:xfrm>
          <a:prstGeom prst="roundRect">
            <a:avLst>
              <a:gd name="adj" fmla="val 12000"/>
            </a:avLst>
          </a:prstGeom>
          <a:solidFill>
            <a:srgbClr val="12100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4481" y="2179241"/>
            <a:ext cx="1427424" cy="269875"/>
          </a:xfrm>
          <a:prstGeom prst="roundRect">
            <a:avLst>
              <a:gd name="adj" fmla="val 12000"/>
            </a:avLst>
          </a:prstGeom>
          <a:solidFill>
            <a:srgbClr val="00B3A4"/>
          </a:solidFill>
          <a:ln/>
        </p:spPr>
      </p:sp>
      <p:sp>
        <p:nvSpPr>
          <p:cNvPr id="15" name="Text 13"/>
          <p:cNvSpPr/>
          <p:nvPr/>
        </p:nvSpPr>
        <p:spPr>
          <a:xfrm>
            <a:off x="11011617" y="2179241"/>
            <a:ext cx="570394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spc="11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52%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104481" y="2718991"/>
            <a:ext cx="34775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spc="9" kern="100" dirty="0">
                <a:solidFill>
                  <a:srgbClr val="F6EFE6"/>
                </a:solidFill>
                <a:latin typeface="Overpass Light" pitchFamily="34" charset="0"/>
                <a:ea typeface="Overpass Light" pitchFamily="34" charset="-122"/>
                <a:cs typeface="Overpass Light" pitchFamily="34" charset="0"/>
              </a:rPr>
              <a:t>VACCINATION RATE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04481" y="3122712"/>
            <a:ext cx="347753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51.55%.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9585" y="5233293"/>
            <a:ext cx="74674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A39B90"/>
                </a:solidFill>
                <a:latin typeface="Overpass Medium" pitchFamily="34" charset="0"/>
                <a:ea typeface="Overpass Medium" pitchFamily="34" charset="-122"/>
                <a:cs typeface="Overpass Medium" pitchFamily="34" charset="0"/>
              </a:rPr>
              <a:t>Inflation rate 5.95%. Most state-sector pairs remain short of a full rebound.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22214" y="6443663"/>
            <a:ext cx="36948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62793" y="6443663"/>
            <a:ext cx="32890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F6EFE6"/>
                </a:solidFill>
                <a:latin typeface="Overpass" pitchFamily="34" charset="0"/>
                <a:ea typeface="Overpass" pitchFamily="34" charset="-122"/>
                <a:cs typeface="Overpass" pitchFamily="34" charset="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2026-10-22T08:00:42Z</dcterms:created>
  <dcterms:modified xsi:type="dcterms:W3CDTF">2026-10-22T08:00:42Z</dcterms:modified>
</cp:coreProperties>
</file>